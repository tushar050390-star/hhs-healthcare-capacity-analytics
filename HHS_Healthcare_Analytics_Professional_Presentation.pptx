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1E78"/>
                </a:solidFill>
              </a:rPr>
              <a:t>HHS System Capacity &amp; Care Load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Business Analysis &amp; Operational Sustainability Dashboard</a:t>
            </a:r>
          </a:p>
          <a:p>
            <a:pPr>
              <a:defRPr sz="1800">
                <a:solidFill>
                  <a:srgbClr val="282828"/>
                </a:solidFill>
              </a:defRPr>
            </a:pP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Prepared Using: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Microsoft Excel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MySQL Workbench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Power BI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SQL Analytics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KPI Engineering</a:t>
            </a:r>
          </a:p>
          <a:p>
            <a:pPr>
              <a:defRPr sz="1800">
                <a:solidFill>
                  <a:srgbClr val="282828"/>
                </a:solidFill>
              </a:defRPr>
            </a:pP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Project Focus: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Monitoring healthcare system burden, operational sustainability, and backlog pressure within the UAC healthcare support system.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1E78"/>
                </a:solidFill>
              </a:rPr>
              <a:t>Business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The healthcare support system lacked centralized visibility into:</a:t>
            </a:r>
          </a:p>
          <a:p>
            <a:pPr>
              <a:defRPr sz="1800">
                <a:solidFill>
                  <a:srgbClr val="282828"/>
                </a:solidFill>
              </a:defRPr>
            </a:pP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Healthcare system load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Operational strain periods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Sustainability gaps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Intake vs discharge imbalance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Capacity pressure accumulation</a:t>
            </a:r>
          </a:p>
          <a:p>
            <a:pPr>
              <a:defRPr sz="1800">
                <a:solidFill>
                  <a:srgbClr val="282828"/>
                </a:solidFill>
              </a:defRPr>
            </a:pP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This project transformed operational healthcare records into a structured analytical reporting framework for executive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1E78"/>
                </a:solidFill>
              </a:rP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Primary Objectives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Monitor healthcare operational burden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Identify high-pressure periods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Analyze sustainability trends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Compare CBP vs HHS operational load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Build executive-level interactive dashboard</a:t>
            </a:r>
          </a:p>
          <a:p>
            <a:pPr>
              <a:defRPr sz="1800">
                <a:solidFill>
                  <a:srgbClr val="282828"/>
                </a:solidFill>
              </a:defRPr>
            </a:pP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Expected Outcomes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Improved operational visibility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Better resource planning support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Healthcare strain identification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Sustainability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1E78"/>
                </a:solidFill>
              </a:rPr>
              <a:t>Excel Data Cleaning &amp; KPI Engineering</a:t>
            </a:r>
          </a:p>
        </p:txBody>
      </p:sp>
      <p:pic>
        <p:nvPicPr>
          <p:cNvPr id="3" name="Picture 2" descr="Excel Cleaned 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498079" cy="26553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2801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Data Preparation Activities</a:t>
            </a:r>
          </a:p>
          <a:p>
            <a:pPr>
              <a:defRPr sz="1400">
                <a:solidFill>
                  <a:srgbClr val="282828"/>
                </a:solidFill>
              </a:defRPr>
            </a:pP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• Date standardization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• Data validation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• KPI column creation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• Rolling average calculation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• Backlog trend classification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• Data quality correction</a:t>
            </a:r>
          </a:p>
          <a:p>
            <a:pPr>
              <a:defRPr sz="1400">
                <a:solidFill>
                  <a:srgbClr val="282828"/>
                </a:solidFill>
              </a:defRPr>
            </a:pP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Result: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A clean analytical dataset prepared for SQL and Power BI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1E78"/>
                </a:solidFill>
              </a:rPr>
              <a:t>Key KPI Engineering</a:t>
            </a:r>
          </a:p>
        </p:txBody>
      </p:sp>
      <p:pic>
        <p:nvPicPr>
          <p:cNvPr id="3" name="Picture 2" descr="Excel - Important K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4114800" cy="18527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12080" y="137160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Critical KPIs Created</a:t>
            </a:r>
          </a:p>
          <a:p>
            <a:pPr>
              <a:defRPr sz="1600">
                <a:solidFill>
                  <a:srgbClr val="282828"/>
                </a:solidFill>
              </a:defRPr>
            </a:pP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• Average Total System Load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• Maximum Total System Load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• Peak HHS Care Load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• Average Net Intake Pressure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• Highest Net Intake Pressure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• Average Discharge Offset Ratio</a:t>
            </a:r>
          </a:p>
          <a:p>
            <a:pPr>
              <a:defRPr sz="1600">
                <a:solidFill>
                  <a:srgbClr val="282828"/>
                </a:solidFill>
              </a:defRPr>
            </a:pP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Business Importance: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These KPIs quantified healthcare burden and operational sustainability.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1E78"/>
                </a:solidFill>
              </a:rPr>
              <a:t>Trend Analysis &amp; Exploratory Data Analysis</a:t>
            </a:r>
          </a:p>
        </p:txBody>
      </p:sp>
      <p:pic>
        <p:nvPicPr>
          <p:cNvPr id="3" name="Picture 2" descr="Excel-System Load 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577840" cy="3174001"/>
          </a:xfrm>
          <a:prstGeom prst="rect">
            <a:avLst/>
          </a:prstGeom>
        </p:spPr>
      </p:pic>
      <p:pic>
        <p:nvPicPr>
          <p:cNvPr id="4" name="Picture 3" descr="Excel Inflow vs Outflow 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394960" cy="34775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9377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2828"/>
                </a:solidFill>
              </a:defRPr>
            </a:pPr>
            <a:r>
              <a:t>Key Observations</a:t>
            </a:r>
          </a:p>
          <a:p>
            <a:pPr>
              <a:defRPr sz="1600">
                <a:solidFill>
                  <a:srgbClr val="282828"/>
                </a:solidFill>
              </a:defRPr>
            </a:pP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• Late 2023 showed severe operational strain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• HHS system load remained consistently high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• 2025 demonstrated significant stabilization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• Intake vs discharge imbalance highlighted backlog accumulation risk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• System burden reduced substantially during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1E78"/>
                </a:solidFill>
              </a:rPr>
              <a:t>SQL Analytical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Advanced SQL Concepts Used</a:t>
            </a:r>
          </a:p>
          <a:p>
            <a:pPr>
              <a:defRPr sz="1500">
                <a:solidFill>
                  <a:srgbClr val="282828"/>
                </a:solidFill>
              </a:defRPr>
            </a:pP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Aggregate Functions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Window Functions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Rolling Average Analytics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RANK() and DENSE_RANK()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CASE Statements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Sustainability Analysis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Operational Pressure Segmentation</a:t>
            </a:r>
          </a:p>
          <a:p>
            <a:pPr>
              <a:defRPr sz="1500">
                <a:solidFill>
                  <a:srgbClr val="282828"/>
                </a:solidFill>
              </a:defRPr>
            </a:pP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SQL analytics helped identify operational strain periods and sustainability trends.</a:t>
            </a:r>
          </a:p>
        </p:txBody>
      </p:sp>
      <p:pic>
        <p:nvPicPr>
          <p:cNvPr id="4" name="Picture 3" descr="SQL - Rolling Operational 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7040880" cy="59781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1E78"/>
                </a:solidFill>
              </a:rPr>
              <a:t>Operational Pressure Ranking Analysis</a:t>
            </a:r>
          </a:p>
        </p:txBody>
      </p:sp>
      <p:pic>
        <p:nvPicPr>
          <p:cNvPr id="3" name="Picture 2" descr="SQL - top 10 Pressure peri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760720" cy="4144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2801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Business Insights</a:t>
            </a:r>
          </a:p>
          <a:p>
            <a:pPr>
              <a:defRPr sz="1500">
                <a:solidFill>
                  <a:srgbClr val="282828"/>
                </a:solidFill>
              </a:defRPr>
            </a:pP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Highest operational pressure occurred during September and December 2023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Peak total system load exceeded 11,700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Consecutive high-pressure periods indicated prolonged healthcare strain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Sustained burden impacted operational stability and capacity management</a:t>
            </a:r>
          </a:p>
          <a:p>
            <a:pPr>
              <a:defRPr sz="1500">
                <a:solidFill>
                  <a:srgbClr val="282828"/>
                </a:solidFill>
              </a:defRPr>
            </a:pP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Analytical Value: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RANK() window function identified critical operational stress periods.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1E78"/>
                </a:solidFill>
              </a:rPr>
              <a:t>Sustainability &amp; Backlog Analysis</a:t>
            </a:r>
          </a:p>
        </p:txBody>
      </p:sp>
      <p:pic>
        <p:nvPicPr>
          <p:cNvPr id="3" name="Picture 2" descr="SQL - Monthly Transfer vs Disch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486400" cy="5179853"/>
          </a:xfrm>
          <a:prstGeom prst="rect">
            <a:avLst/>
          </a:prstGeom>
        </p:spPr>
      </p:pic>
      <p:pic>
        <p:nvPicPr>
          <p:cNvPr id="4" name="Picture 3" descr="SQL - Operational Pressure 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212080" cy="32990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84632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Key Findings</a:t>
            </a:r>
          </a:p>
          <a:p>
            <a:pPr>
              <a:defRPr sz="1500">
                <a:solidFill>
                  <a:srgbClr val="282828"/>
                </a:solidFill>
              </a:defRPr>
            </a:pP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Multiple periods showed negative sustainability gaps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Transfers frequently exceeded discharge throughput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Operational backlog accumulation was successfully identified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Stable/reducing pressure represented majority operational periods</a:t>
            </a:r>
          </a:p>
          <a:p>
            <a:pPr>
              <a:defRPr sz="1500">
                <a:solidFill>
                  <a:srgbClr val="282828"/>
                </a:solidFill>
              </a:defRPr>
            </a:pP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Business Impact: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These findings highlighted healthcare sustainability risks.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1E78"/>
                </a:solidFill>
              </a:rPr>
              <a:t>Power BI Dashboard Development</a:t>
            </a:r>
          </a:p>
        </p:txBody>
      </p:sp>
      <p:pic>
        <p:nvPicPr>
          <p:cNvPr id="3" name="Picture 2" descr="PBI-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2815220"/>
          </a:xfrm>
          <a:prstGeom prst="rect">
            <a:avLst/>
          </a:prstGeom>
        </p:spPr>
      </p:pic>
      <p:pic>
        <p:nvPicPr>
          <p:cNvPr id="4" name="Picture 3" descr="Load Trend Over 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097280"/>
            <a:ext cx="5669280" cy="2376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7548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82828"/>
                </a:solidFill>
              </a:defRPr>
            </a:pPr>
            <a:r>
              <a:t>Dashboard Components</a:t>
            </a:r>
          </a:p>
          <a:p>
            <a:pPr>
              <a:defRPr sz="1500">
                <a:solidFill>
                  <a:srgbClr val="282828"/>
                </a:solidFill>
              </a:defRPr>
            </a:pP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Executive KPI Cards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Healthcare System Trend Analysis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CBP vs HHS Comparison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Operational Backlog Distribution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• Interactive Slicers and Filters</a:t>
            </a:r>
          </a:p>
          <a:p>
            <a:pPr>
              <a:defRPr sz="1500">
                <a:solidFill>
                  <a:srgbClr val="282828"/>
                </a:solidFill>
              </a:defRPr>
            </a:pP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Business Value: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Interactive analytical visibility for healthcare operations and executive monitoring.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1E78"/>
                </a:solidFill>
              </a:rPr>
              <a:t>Final Dashboard Overview</a:t>
            </a:r>
          </a:p>
        </p:txBody>
      </p:sp>
      <p:pic>
        <p:nvPicPr>
          <p:cNvPr id="3" name="Picture 2" descr="PBI-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3657600" cy="2047433"/>
          </a:xfrm>
          <a:prstGeom prst="rect">
            <a:avLst/>
          </a:prstGeom>
        </p:spPr>
      </p:pic>
      <p:pic>
        <p:nvPicPr>
          <p:cNvPr id="4" name="Picture 3" descr="CBPvsH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005840"/>
            <a:ext cx="7315200" cy="4417339"/>
          </a:xfrm>
          <a:prstGeom prst="rect">
            <a:avLst/>
          </a:prstGeom>
        </p:spPr>
      </p:pic>
      <p:pic>
        <p:nvPicPr>
          <p:cNvPr id="5" name="Picture 4" descr="Backlog Press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4023360"/>
            <a:ext cx="3840480" cy="18864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1E78"/>
                </a:solidFill>
              </a:rPr>
              <a:t>Key Business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82828"/>
                </a:solidFill>
              </a:defRPr>
            </a:pPr>
            <a:r>
              <a:t>• Peak HHS healthcare burden exceeded 11,500 children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• Late 2023 represented the highest operational pressure period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• HHS care load consistently dominated operational burden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• Rolling averages revealed sustained healthcare strain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• 2025 demonstrated significant operational stabilization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• Sustainability gaps highlighted backlog accumulation risks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• Interactive analytics improved operational visibility</a:t>
            </a:r>
          </a:p>
          <a:p>
            <a:pPr>
              <a:defRPr sz="1700">
                <a:solidFill>
                  <a:srgbClr val="282828"/>
                </a:solidFill>
              </a:defRPr>
            </a:pP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Strategic Outcome: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The analytical framework successfully converted raw healthcare data into actionable operational insights.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1E78"/>
                </a:solidFill>
              </a:rP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82828"/>
                </a:solidFill>
              </a:defRPr>
            </a:pPr>
            <a:r>
              <a:t>Strategic Recommendations</a:t>
            </a:r>
          </a:p>
          <a:p>
            <a:pPr>
              <a:defRPr sz="1700">
                <a:solidFill>
                  <a:srgbClr val="282828"/>
                </a:solidFill>
              </a:defRPr>
            </a:pP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• Improve discharge throughput coordination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• Strengthen operational monitoring mechanisms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• Expand healthcare surge-capacity planning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• Enhance sustainability KPI monitoring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• Implement predictive operational analytics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• Improve healthcare resource allocation visibility</a:t>
            </a:r>
          </a:p>
          <a:p>
            <a:pPr>
              <a:defRPr sz="1700">
                <a:solidFill>
                  <a:srgbClr val="282828"/>
                </a:solidFill>
              </a:defRPr>
            </a:pP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Future Scope</a:t>
            </a:r>
          </a:p>
          <a:p>
            <a:pPr>
              <a:defRPr sz="1700">
                <a:solidFill>
                  <a:srgbClr val="282828"/>
                </a:solidFill>
              </a:defRPr>
            </a:pP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• Real-time dashboard integration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• Predictive pressure forecasting</a:t>
            </a:r>
          </a:p>
          <a:p>
            <a:pPr>
              <a:defRPr sz="1700">
                <a:solidFill>
                  <a:srgbClr val="282828"/>
                </a:solidFill>
              </a:defRPr>
            </a:pPr>
            <a:r>
              <a:t>• AI-driven operational trend detection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1E7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The project successfully transformed raw operational healthcare records into a complete analytical reporting system using Excel, SQL, and Power BI.</a:t>
            </a:r>
          </a:p>
          <a:p>
            <a:pPr>
              <a:defRPr sz="1800">
                <a:solidFill>
                  <a:srgbClr val="282828"/>
                </a:solidFill>
              </a:defRPr>
            </a:pP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Key Achievements: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Operational burden monitoring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Sustainability analysis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Trend identification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Executive dashboard development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SQL analytical reporting</a:t>
            </a: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• Business insight generation</a:t>
            </a:r>
          </a:p>
          <a:p>
            <a:pPr>
              <a:defRPr sz="1800">
                <a:solidFill>
                  <a:srgbClr val="282828"/>
                </a:solidFill>
              </a:defRPr>
            </a:pPr>
          </a:p>
          <a:p>
            <a:pPr>
              <a:defRPr sz="1800">
                <a:solidFill>
                  <a:srgbClr val="282828"/>
                </a:solidFill>
              </a:defRPr>
            </a:pPr>
            <a:r>
              <a:t>This project demonstrates complete end-to-end Business Analytics workflow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